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69" r:id="rId16"/>
    <p:sldId id="270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35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189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04E8C"/>
          </a:solidFill>
          <a:ln w="9525">
            <a:solidFill>
              <a:srgbClr val="00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412480" y="0"/>
            <a:ext cx="731520" cy="5143500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Production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MAF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4114800" cy="457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9077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Agents Framework  ·  .NET 10  ·  Azure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36499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7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Azure 2026 – Kolkata ·  April 18,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start with the demo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43584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is the proof point. MAF is the hero.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chatbot walkthrough – it is a MAF architecture story shown through a real Azure support application.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365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0848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0665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V2 conversation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3865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IT support request, then a follow-up technical question in the same thread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88720" y="290779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routing in action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227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specialist agent handles each turn, logged as an OTel span in real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67328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7490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069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telemetry, conversation trace, agent routing donut, eval quality panel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6177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we'll pull back the curtain; show how the demo now runs on the official .NET MAF 1.0.0 core package line.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MAF?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8412480" cy="868680"/>
          </a:xfrm>
          <a:prstGeom prst="rect">
            <a:avLst/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41248"/>
            <a:ext cx="73152" cy="86868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14400"/>
            <a:ext cx="8092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opinionated .NET library for building production-grade multi-agent AI systems — with authentication, memory, context, skills, streaming, telemetry, and evaluation built in.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36576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856232"/>
            <a:ext cx="54864" cy="14173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platform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your .NET application. You own the code, the pipeline, and the deployment. No vendor lock-in beyond your chosen Azure services.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856232"/>
            <a:ext cx="54864" cy="141732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Prescribes how agents, routing, memory, and telemetry wire together. Convention over configuration – most things work without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392424"/>
            <a:ext cx="54864" cy="1417320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Document Intelligence, Cosmos, Redis, AI Search, and App Insights are the default backing services – all configurable and replaceable.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392424"/>
            <a:ext cx="54864" cy="141732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for streaming, MCP for tools, OTel for observability. Standard protocols, not proprietary interfaces.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MAF? Five problems you face without a framework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50392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50392"/>
            <a:ext cx="54864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0525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901952" y="914400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Every agent endpoint needs auth. Without a framework, JWT validation and user identity extraction gets scattered across handlers.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1655064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655064"/>
            <a:ext cx="54864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170992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discovery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901952" y="1719072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agents find and invoke tools? Hand-wiring functions to every agent doesn't scale. You need a decoupled tool layer.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2459736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459736"/>
            <a:ext cx="54864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5146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901952" y="2523744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LLM calls are stateless. Conversation history, user preferences, and cross-session memory require explicit, consistent management.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3264408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264408"/>
            <a:ext cx="54864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3192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901952" y="3328416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Agent calls are black boxes. Latency, token usage, routing decisions — none visible in APM without explicit OTel instrumentation.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54864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41239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901952" y="4133088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you know a prompt change didn't break something? Without an eval harness you're shipping blind after every iteration.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65760" y="486460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addresses all five. Consistently. Out of the box.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in a real Azure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51560" y="850392"/>
            <a:ext cx="1783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89611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25272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/ JWT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51560" y="1874520"/>
            <a:ext cx="1783080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63240" y="1874520"/>
            <a:ext cx="1783080" cy="713232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6324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06324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74920" y="1874520"/>
            <a:ext cx="1783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7492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router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086600" y="1874520"/>
            <a:ext cx="1783080" cy="71323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8660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51560" y="2898648"/>
            <a:ext cx="1783080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5156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5156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63240" y="2898648"/>
            <a:ext cx="1783080" cy="713232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06324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06324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AsyncLocal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74920" y="2898648"/>
            <a:ext cx="1783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7492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7492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+ AI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086600" y="2898648"/>
            <a:ext cx="1783080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8660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8660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3858768"/>
            <a:ext cx="8595360" cy="56692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395728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694176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92624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+ Doc Intel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91072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58952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74320" y="453542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provides the composition model. HelpdeskAI shows one Azure-backed implementation of it - Redis for memory, Cosmos for ticket persistence, AI Search for KB, and Document Intelligence for PDF/DOCX OCR.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Lifecycle - one MAF pipeline, different state surfaces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8595360" cy="347472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MEMORY  -  v1 uses RedisChatHistoryProvider, v2 workflow runtime owns handoff history, Redis long-term memory injects profile/preferences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1188720" cy="658368"/>
          </a:xfrm>
          <a:prstGeom prst="rect">
            <a:avLst/>
          </a:prstGeom>
          <a:solidFill>
            <a:srgbClr val="6B7280"/>
          </a:solidFill>
          <a:ln w="9525">
            <a:solidFill>
              <a:srgbClr val="6B728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432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63040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682496" y="1298448"/>
            <a:ext cx="1188720" cy="658368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82496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682496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JWT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71216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90672" y="1298448"/>
            <a:ext cx="1188720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90672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090672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79392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98848" y="1298448"/>
            <a:ext cx="1188720" cy="65836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98848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498848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87568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07024" y="1298448"/>
            <a:ext cx="1188720" cy="658368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07024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0702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kb / 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95744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0" y="1298448"/>
            <a:ext cx="1188720" cy="658368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31520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SearchTickets…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01768" y="1993392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transfer_to_specialist()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2331720"/>
            <a:ext cx="8595360" cy="27432"/>
          </a:xfrm>
          <a:prstGeom prst="rect">
            <a:avLst/>
          </a:prstGeom>
          <a:solidFill>
            <a:srgbClr val="5BC0F8"/>
          </a:solidFill>
          <a:ln w="9525">
            <a:solidFill>
              <a:srgbClr val="5BC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AG-UI SSE stream  —  words appear as they generate · TOOL_CALL_START / TOOL_CALL_END events · RUN_FINISHED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688336"/>
            <a:ext cx="8595360" cy="347472"/>
          </a:xfrm>
          <a:prstGeom prst="rect">
            <a:avLst/>
          </a:prstGeom>
          <a:solidFill>
            <a:srgbClr val="EDE9FE"/>
          </a:solidFill>
          <a:ln w="9525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27066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 —  OTel span on every hop · thread.id + enduser.id stamped · KQL queryable end-to-end in App Insights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4320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" y="3127248"/>
            <a:ext cx="54864" cy="173736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non-optional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1480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plus request scoping run before any agent code - every MAF turn starts with validated identity and per-thread context.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172968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172968" y="3127248"/>
            <a:ext cx="54864" cy="173736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310128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is explicit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10128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is a deliberate framework action. The orchestrator chooses the next specialist instead of hiding control flow inside one giant prompt.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071616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071616" y="3127248"/>
            <a:ext cx="54864" cy="173736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08776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by design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208776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 flows through every hop - one KQL filter reveals the full conversation, span by span, across agents and tools.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+ C2 - SECURITY &amp; SCOPING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JWT Bearer validates every /agent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ThreadIdContext (AsyncLocal) scopes every conversation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UserContext carries email + display name from Entra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middleware sets identity and thread scope for the full turn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 boundary + one request context seam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17043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builder.Services.AddAuthentication()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.AddJwtBearer(...);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app.MapAGUI("/agent", agent)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.RequireAuthorization();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011680"/>
            <a:ext cx="5212080" cy="13258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157984"/>
            <a:ext cx="48920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app.UseAgentRequestContext(...);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ThreadIdContext.Set(threadId);
UserContext.Set(userName, userEmail);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ambient context for memory, tools, telemetry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36118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gets much more powerful when identity and per-thread scoping are first-class. HelpdeskAI uses one middleware seam, so every downstream component sees the same user and thread context.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49040" y="4535424"/>
            <a:ext cx="5212080" cy="411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49040" y="4535424"/>
            <a:ext cx="54864" cy="411480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86200" y="4645152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KQL: dependencies | where customDimensions["thread.id"] == @tid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TOOL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McpServer project hosts all tools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McpToolsProvider connects agents via HttpClientTransport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decorated with [McpServerTool] — auto-discovered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RetryingMcpTool wraps invocations with retry + reconnect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server and client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99339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Server — HelpdeskAI.McpServer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[McpServerToolType]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class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TicketTools
{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[McpServerTool(Name = 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"search_tickets"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async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&lt;string&gt; 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SearchTickets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(string requestedBy, string status)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...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743200"/>
            <a:ext cx="5212080" cy="1316736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889504"/>
            <a:ext cx="48920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Client — McpToolsProvider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transport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HttpClientTransport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(new() { BaseUrl = mcpUrl });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_client = await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McpClient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.CreateAsync(transport);
var tools = await _client.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ListToolsAsync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TTL = 3 min  ·  RetryingMcpTool wraps each call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41605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groups: TicketTools · KnowledgeBaseTools · SystemStatusTools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49040" y="444398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receives only its AllowedTools by name. DynamicToolSelectionProvider further filters using cosine similarity — no over-permission.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C4 - AGENT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pattern - static Create(), no inheritance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ChatClientAgentOptions carries instructions and AI context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adds per-agent invoke spans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proves the pattern with focused specialists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looks like in MAF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011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ChatClientAgent Create(...)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new ChatClientAgent(chatClient, new ChatClientAgentOptions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Name = AgentName,
       ChatOptions = new() { Instructions = Instructions },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AIContextProviders = [userProvider, memoryProvider, toolSelectionProvider]
     });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816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specialists: orchestrator, ticket_agent, kb_agent, incident_agent, diagnostic_agent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49040" y="312724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stay small because MAF externalizes orchestration, context, tools, and telemetry. HelpdeskAI is the proof point - each agent is focused because the framework carries the rest.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 · ROUTING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OrchestratorAgentFactory creates the routing agent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wires orchestrator + specialists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9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AgentWo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Builder.CreateHan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BuilderWith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789156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handoff decision logged as an OTel span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— AgentWorkflowBuilder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83464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Wrap with OTel before registering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orch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OrchestratorAgentFactory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.Create(chatClient, ...),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TelemetrySource) { EnableSensitiveData = false };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the multi-agent workflow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.CreateHandoffBuilderWith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(orch, [ticket, kb, incident, diag])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([ticket, kb, incident, diag], orch)
    .Build();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358444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orchestrator's system prompt lists all specialist names it can transfer to. Adding a new specialist is one line: .WithHandoffs(orch, [newAgent]). No wiring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49040" y="4297680"/>
            <a:ext cx="521208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4297680"/>
            <a:ext cx="54864" cy="6858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4389120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semantics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745736"/>
            <a:ext cx="5010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entire turn to specialist. Orchestrator re-evaluates at the next user message — not after each tool call.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 · STATE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STM and LTM backed by Azure Cache for Redis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STM: RedisChatHistoryProvider — per thread.id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LTM: LongTermMemoryContextProvider — per userId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backs RAG — semantic + keyword, TopK=8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memory tiers — all injected via AIContextProviders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49040" y="658368"/>
            <a:ext cx="1591056" cy="384048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0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RedisChatHistoryProvider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0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thread.id — full turn log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0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each turn by MAF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Auto-truncated at context limit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IChatHistoryProvider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68112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68112" y="658368"/>
            <a:ext cx="1591056" cy="38404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59552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59552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LongTermMemoryContextProvider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559552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sessions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59552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 + preferences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ltm:{email}:profile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59552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injection into prompt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87184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87184" y="658368"/>
            <a:ext cx="1591056" cy="384048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78624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78624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AzureAiSearchContextProvider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78624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backing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78624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semantic + keyword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78624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TopK=8 most relevant chunks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78624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kb_agent context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49040" y="4590288"/>
            <a:ext cx="5212080" cy="292608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858768" y="4626864"/>
            <a:ext cx="4992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stores tickets - not memory. Redis holds history and long-term memory, while AI Search stores the knowledge base.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C7 - STREAMING PROTOCOL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 for agent-to-UI streaming over SSE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text deltas - words appear as they generate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start/end events - UI can show live progress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lifecycle events make the stream inspectable and operable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is the streaming contract MAF hosts natively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7830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RUN_STARTED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{"runId":"run_01","threadId":"t-a1b2"}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TEXT_MESSAGE_CONTENT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{"delta":"I found 2 matching tickets."}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TOOL_CALL_START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{"toolName":"search_tickets"}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RUN_FINISHED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{"status":"completed"}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69748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exposes AG-UI from .NET with MapAGUI(). HelpdeskAI proves what sits on top of it: a React chat layer that consumes the AG-UI stream and renders streamed text plus tool-driven cards.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749040" y="3675888"/>
            <a:ext cx="2487168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3675888"/>
            <a:ext cx="54864" cy="98755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1239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chat UI consumes the AG-UI stream and renders text, cards, and progress in real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55080" y="3675888"/>
            <a:ext cx="26060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55080" y="3675888"/>
            <a:ext cx="54864" cy="987552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92240" y="3767328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4123944"/>
            <a:ext cx="2404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MapAGUI() is the hosting primitive. The framework handles the SSE protocol surface for both v1 and v2 routes.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 + C9 - OPERATE &amp; VERIFY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emits per-agent invoke spans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ThreadIdEnrichingProcessor stamps thread.id and enduser.id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 turns traces into investigation panels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Golden-scenario evals keep prompt and workflow changes honest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system first, then verify it with evals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37160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override void OnStart(Activity a)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a.SetTag("thread.id", ThreadIdContext.Current);
  a.SetTag("enduser.id", UserContext.Email);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945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 panels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24871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Volume - v1 vs v2 throughput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49040" y="273405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Routing - which specialist wins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49040" y="2980944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- exceptions by bucket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22783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Trace - filterable by thread.id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49040" y="3547872"/>
            <a:ext cx="5212080" cy="868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31920" y="3694176"/>
            <a:ext cx="4892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ScenarioSpec(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"Create_Ticket",
  PrimaryEvaluator: "Was a ticket created?"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C00000"/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C10 - SAFETY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Guardrails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content filters active on all model deployments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01168" y="2391616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content_filter (HTTP 400) → SSE stream terminates — no RUN_FINISHED sent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01168" y="3246611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ContentSafetyGuardChatClient — inserted after UseFunctionInvocation() in both v1 + v2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01168" y="4087435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filter hit: Redis history cleared, ⚠️ message returned, thread.id logged → App Insights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C00000"/>
          </a:solidFill>
          <a:ln w="9525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guardrails explicitly in the pipeline — not as an afterthought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37160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 (Exception ex)
  when (IsContentFilterException(ex))
{
  await HandleContentFilterAsync(ex, ct);
  filterHit = true;
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945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filter hit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24871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- Redis history cleared (messages:{threadId})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49040" y="273405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- ⚠️  User-facing message returned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49040" y="2980944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- Stream closes cleanly (RUN_ERROR sent)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22783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- Warning logged with thread.id for App Insights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49040" y="3474720"/>
            <a:ext cx="5212080" cy="112014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31920" y="3694176"/>
            <a:ext cx="4892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.UseFunctionInvocation()
.Use((inner, svc) =&gt;
  new ContentSafetyGuardChatClient(
    inner, redis, logger))
.Use((inner, svc) =&gt;
  new UsageCapturingChatClient(...))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160520" cy="4937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83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are not optional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API call is not a system. Routing, memory, auth, skills, streaming, evaluation, and production guardrails need to be built consistently — MAF does that.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60520" cy="493776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33095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decouples tools from agents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tools once in the MCP server. Any agent can consume them by name. Add a specialist without rewiring every tool call.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2004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60520" cy="493776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4183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 Guardrails are architecture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cannot trace agent routing, tool use, and thread flow — and handle content safety failures without breaking the stream — you are not ready for production.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0916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9160" y="2852928"/>
            <a:ext cx="4160520" cy="493776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33095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is the CI/CD of AI systems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scenarios plus LLM-as-judge create confidence that prompt and workflow changes do not quietly break production behavior.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what we used · what to explore next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23774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832104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MAF APIS &amp; ABSTRACTIONS USED IN THIS PROJECT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54864" cy="64008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2336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ChatClientAgentOptions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810512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MAF agent abstraction - name, instructions, tool and context bindings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72968" y="1115568"/>
            <a:ext cx="54864" cy="64008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00984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.WithHandoffs()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multi-agent handoff topology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71616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71616" y="1115568"/>
            <a:ext cx="54864" cy="64008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9632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12E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07808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agents and emits per-agent invoke spans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1828800"/>
            <a:ext cx="54864" cy="64008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336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RedisChatHistoryProvider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LongTermMemoryStore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10512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memory surfaces backing the MAF context model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72968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72968" y="1828800"/>
            <a:ext cx="54864" cy="64008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00984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AgentSkillsProvider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load_skill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skills loaded on demand through progressive disclosure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71616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071616" y="1828800"/>
            <a:ext cx="54864" cy="64008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99632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AIContextProviders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McpToolsProvider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607808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identity, memory, tools, and search into each agent cleanly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2633472"/>
            <a:ext cx="8595360" cy="237744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02336" y="264261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MAF CAPABILITIES TO EXPLORE NEXT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2926080"/>
            <a:ext cx="2084832" cy="34747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/ Voice Pipeline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84048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in, TTS out. Extend AG-UI with audio events while keeping the same agent backend.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450592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450592" y="2926080"/>
            <a:ext cx="2084832" cy="34747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560320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/ Fan-out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one query to multiple specialists simultaneously, then merge and rank results before responding.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626864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626864" y="2926080"/>
            <a:ext cx="2084832" cy="34747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36592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Flows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36592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explicit human-in-the-loop checkpoints for sensitive actions, escalations, or approvals.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803136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803136" y="2926080"/>
            <a:ext cx="2084832" cy="34747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12864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Prompt Experiments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12864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prompt variants and compare eval pass rates and operational outcomes before adopting a new default.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0" y="0"/>
            <a:ext cx="914400" cy="5143500"/>
          </a:xfrm>
          <a:prstGeom prst="rect">
            <a:avLst/>
          </a:prstGeom>
          <a:solidFill>
            <a:srgbClr val="0050A0"/>
          </a:solidFill>
          <a:ln w="9525">
            <a:solidFill>
              <a:srgbClr val="005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1148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1455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available on the GitHub repo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0" y="479145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MAF  ·  Deployed on Azure  ·  April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2442</Words>
  <Application>Microsoft Office PowerPoint</Application>
  <PresentationFormat>On-screen Show (16:9)</PresentationFormat>
  <Paragraphs>280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Production Multi-Agent Systems with MAF</dc:title>
  <dc:subject>PptxGenJS Presentation</dc:subject>
  <dc:creator>PptxGenJS</dc:creator>
  <cp:lastModifiedBy>Choudhury, Sreyan</cp:lastModifiedBy>
  <cp:revision>10</cp:revision>
  <dcterms:created xsi:type="dcterms:W3CDTF">2026-04-03T14:22:34Z</dcterms:created>
  <dcterms:modified xsi:type="dcterms:W3CDTF">2026-04-05T10:16:15Z</dcterms:modified>
</cp:coreProperties>
</file>